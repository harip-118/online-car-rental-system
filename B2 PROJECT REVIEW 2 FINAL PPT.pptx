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6" r:id="rId1"/>
  </p:sldMasterIdLst>
  <p:notesMasterIdLst>
    <p:notesMasterId r:id="rId16"/>
  </p:notesMasterIdLst>
  <p:sldIdLst>
    <p:sldId id="256" r:id="rId2"/>
    <p:sldId id="275" r:id="rId3"/>
    <p:sldId id="257" r:id="rId4"/>
    <p:sldId id="272" r:id="rId5"/>
    <p:sldId id="264" r:id="rId6"/>
    <p:sldId id="266" r:id="rId7"/>
    <p:sldId id="280" r:id="rId8"/>
    <p:sldId id="269" r:id="rId9"/>
    <p:sldId id="283" r:id="rId10"/>
    <p:sldId id="284" r:id="rId11"/>
    <p:sldId id="286" r:id="rId12"/>
    <p:sldId id="285" r:id="rId13"/>
    <p:sldId id="273"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C621F-5E46-4AC6-B2A4-C6A6B79540FF}" type="datetimeFigureOut">
              <a:rPr lang="en-IN" smtClean="0"/>
              <a:t>14-04-2026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F3051-5569-4645-AD54-AEDA4A6B8FC1}" type="slidenum">
              <a:rPr lang="en-IN" smtClean="0"/>
              <a:t>‹#›</a:t>
            </a:fld>
            <a:endParaRPr lang="en-IN"/>
          </a:p>
        </p:txBody>
      </p:sp>
    </p:spTree>
    <p:extLst>
      <p:ext uri="{BB962C8B-B14F-4D97-AF65-F5344CB8AC3E}">
        <p14:creationId xmlns:p14="http://schemas.microsoft.com/office/powerpoint/2010/main" val="35319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D5F3051-5569-4645-AD54-AEDA4A6B8FC1}" type="slidenum">
              <a:rPr lang="en-IN" smtClean="0"/>
              <a:t>8</a:t>
            </a:fld>
            <a:endParaRPr lang="en-IN"/>
          </a:p>
        </p:txBody>
      </p:sp>
    </p:spTree>
    <p:extLst>
      <p:ext uri="{BB962C8B-B14F-4D97-AF65-F5344CB8AC3E}">
        <p14:creationId xmlns:p14="http://schemas.microsoft.com/office/powerpoint/2010/main" val="899304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440933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193225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260545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D3EFBE-7814-4E94-8536-52E51A3D289F}"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274712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D3EFBE-7814-4E94-8536-52E51A3D289F}" type="datetimeFigureOut">
              <a:rPr lang="en-IN" smtClean="0"/>
              <a:t>14-04-2026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480142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D3EFBE-7814-4E94-8536-52E51A3D289F}" type="datetimeFigureOut">
              <a:rPr lang="en-IN" smtClean="0"/>
              <a:t>14-04-2026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413049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D3EFBE-7814-4E94-8536-52E51A3D289F}" type="datetimeFigureOut">
              <a:rPr lang="en-IN" smtClean="0"/>
              <a:t>14-04-2026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223447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080849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68818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2193134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64849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071981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65868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58516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2004057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696715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D3EFBE-7814-4E94-8536-52E51A3D289F}" type="datetimeFigureOut">
              <a:rPr lang="en-IN" smtClean="0"/>
              <a:t>14-04-2026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D100AE6-8269-4E23-BC42-D00B2D9109A6}" type="slidenum">
              <a:rPr lang="en-IN" smtClean="0"/>
              <a:t>‹#›</a:t>
            </a:fld>
            <a:endParaRPr lang="en-IN"/>
          </a:p>
        </p:txBody>
      </p:sp>
    </p:spTree>
    <p:extLst>
      <p:ext uri="{BB962C8B-B14F-4D97-AF65-F5344CB8AC3E}">
        <p14:creationId xmlns:p14="http://schemas.microsoft.com/office/powerpoint/2010/main" val="2122334286"/>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8012E5-F408-9128-2ECC-C88593D0AF1B}"/>
              </a:ext>
            </a:extLst>
          </p:cNvPr>
          <p:cNvSpPr txBox="1"/>
          <p:nvPr/>
        </p:nvSpPr>
        <p:spPr>
          <a:xfrm>
            <a:off x="701317" y="258012"/>
            <a:ext cx="9312492" cy="7109639"/>
          </a:xfrm>
          <a:prstGeom prst="rect">
            <a:avLst/>
          </a:prstGeom>
          <a:noFill/>
        </p:spPr>
        <p:txBody>
          <a:bodyPr wrap="square" rtlCol="0">
            <a:spAutoFit/>
          </a:bodyPr>
          <a:lstStyle/>
          <a:p>
            <a:r>
              <a:rPr lang="en-IN" sz="4400" dirty="0" err="1">
                <a:latin typeface="Old English Text MT" panose="03040902040508030806" pitchFamily="66" charset="0"/>
                <a:cs typeface="Times New Roman" panose="02020603050405020304" pitchFamily="18" charset="0"/>
              </a:rPr>
              <a:t>Bapatla</a:t>
            </a:r>
            <a:r>
              <a:rPr lang="en-IN" sz="4400" dirty="0">
                <a:latin typeface="Old English Text MT" panose="03040902040508030806" pitchFamily="66" charset="0"/>
                <a:cs typeface="Times New Roman" panose="02020603050405020304" pitchFamily="18" charset="0"/>
              </a:rPr>
              <a:t> Engineering College::</a:t>
            </a:r>
            <a:r>
              <a:rPr lang="en-IN" sz="4400" dirty="0" err="1">
                <a:latin typeface="Old English Text MT" panose="03040902040508030806" pitchFamily="66" charset="0"/>
                <a:cs typeface="Times New Roman" panose="02020603050405020304" pitchFamily="18" charset="0"/>
              </a:rPr>
              <a:t>Bapatla</a:t>
            </a:r>
            <a:r>
              <a:rPr lang="en-IN" sz="4400" dirty="0">
                <a:latin typeface="Old English Text MT" panose="03040902040508030806" pitchFamily="66" charset="0"/>
                <a:cs typeface="Times New Roman" panose="02020603050405020304" pitchFamily="18" charset="0"/>
              </a:rPr>
              <a:t> </a:t>
            </a:r>
          </a:p>
          <a:p>
            <a:pPr algn="ctr"/>
            <a:r>
              <a:rPr lang="en-IN" sz="3600" dirty="0">
                <a:latin typeface="Times New Roman" panose="02020603050405020304" pitchFamily="18" charset="0"/>
                <a:cs typeface="Times New Roman" panose="02020603050405020304" pitchFamily="18" charset="0"/>
              </a:rPr>
              <a:t>Department of Information Technology</a:t>
            </a:r>
          </a:p>
          <a:p>
            <a:pPr algn="ctr"/>
            <a:r>
              <a:rPr lang="en-IN" sz="3200" dirty="0">
                <a:solidFill>
                  <a:srgbClr val="0070C0"/>
                </a:solidFill>
                <a:latin typeface="Times New Roman" panose="02020603050405020304" pitchFamily="18" charset="0"/>
                <a:cs typeface="Times New Roman" panose="02020603050405020304" pitchFamily="18" charset="0"/>
              </a:rPr>
              <a:t>Project Review-II</a:t>
            </a:r>
          </a:p>
          <a:p>
            <a:pPr algn="ctr"/>
            <a:r>
              <a:rPr lang="en-IN" sz="2800" dirty="0">
                <a:latin typeface="Times New Roman" panose="02020603050405020304" pitchFamily="18" charset="0"/>
                <a:cs typeface="Times New Roman" panose="02020603050405020304" pitchFamily="18" charset="0"/>
              </a:rPr>
              <a:t>on</a:t>
            </a:r>
          </a:p>
          <a:p>
            <a:pPr algn="ctr"/>
            <a:r>
              <a:rPr lang="en-IN" sz="4000" dirty="0">
                <a:solidFill>
                  <a:srgbClr val="002060"/>
                </a:solidFill>
                <a:latin typeface="Times New Roman" panose="02020603050405020304" pitchFamily="18" charset="0"/>
                <a:cs typeface="Times New Roman" panose="02020603050405020304" pitchFamily="18" charset="0"/>
              </a:rPr>
              <a:t>Online Car Rental System</a:t>
            </a:r>
          </a:p>
          <a:p>
            <a:pPr algn="ctr"/>
            <a:r>
              <a:rPr lang="en-IN" sz="2400" dirty="0">
                <a:latin typeface="Times New Roman" panose="02020603050405020304" pitchFamily="18" charset="0"/>
                <a:cs typeface="Times New Roman" panose="02020603050405020304" pitchFamily="18" charset="0"/>
              </a:rPr>
              <a:t>By</a:t>
            </a:r>
          </a:p>
          <a:p>
            <a:pPr algn="ctr"/>
            <a:r>
              <a:rPr lang="en-IN" sz="2400" dirty="0" err="1">
                <a:solidFill>
                  <a:srgbClr val="7030A0"/>
                </a:solidFill>
                <a:latin typeface="Times New Roman" panose="02020603050405020304" pitchFamily="18" charset="0"/>
                <a:cs typeface="Times New Roman" panose="02020603050405020304" pitchFamily="18" charset="0"/>
              </a:rPr>
              <a:t>Pothamsetty</a:t>
            </a:r>
            <a:r>
              <a:rPr lang="en-IN" sz="2400" dirty="0">
                <a:solidFill>
                  <a:srgbClr val="7030A0"/>
                </a:solidFill>
                <a:latin typeface="Times New Roman" panose="02020603050405020304" pitchFamily="18" charset="0"/>
                <a:cs typeface="Times New Roman" panose="02020603050405020304" pitchFamily="18" charset="0"/>
              </a:rPr>
              <a:t> Hari Prasad-Y22AIT497</a:t>
            </a:r>
          </a:p>
          <a:p>
            <a:pPr algn="ctr"/>
            <a:r>
              <a:rPr lang="en-IN" sz="2400" dirty="0">
                <a:solidFill>
                  <a:srgbClr val="7030A0"/>
                </a:solidFill>
                <a:latin typeface="Times New Roman" panose="02020603050405020304" pitchFamily="18" charset="0"/>
                <a:cs typeface="Times New Roman" panose="02020603050405020304" pitchFamily="18" charset="0"/>
              </a:rPr>
              <a:t>Shaik </a:t>
            </a:r>
            <a:r>
              <a:rPr lang="en-IN" sz="2400" dirty="0" err="1">
                <a:solidFill>
                  <a:srgbClr val="7030A0"/>
                </a:solidFill>
                <a:latin typeface="Times New Roman" panose="02020603050405020304" pitchFamily="18" charset="0"/>
                <a:cs typeface="Times New Roman" panose="02020603050405020304" pitchFamily="18" charset="0"/>
              </a:rPr>
              <a:t>Nagoor</a:t>
            </a:r>
            <a:r>
              <a:rPr lang="en-IN" sz="2400" dirty="0">
                <a:solidFill>
                  <a:srgbClr val="7030A0"/>
                </a:solidFill>
                <a:latin typeface="Times New Roman" panose="02020603050405020304" pitchFamily="18" charset="0"/>
                <a:cs typeface="Times New Roman" panose="02020603050405020304" pitchFamily="18" charset="0"/>
              </a:rPr>
              <a:t> Basha-Y22AIT508</a:t>
            </a:r>
          </a:p>
          <a:p>
            <a:pPr algn="ctr"/>
            <a:r>
              <a:rPr lang="en-IN" sz="2400" dirty="0">
                <a:solidFill>
                  <a:srgbClr val="7030A0"/>
                </a:solidFill>
                <a:latin typeface="Times New Roman" panose="02020603050405020304" pitchFamily="18" charset="0"/>
                <a:cs typeface="Times New Roman" panose="02020603050405020304" pitchFamily="18" charset="0"/>
              </a:rPr>
              <a:t>Vanja Sasi Kumar-Y22AIT521</a:t>
            </a:r>
          </a:p>
          <a:p>
            <a:pPr algn="ctr"/>
            <a:r>
              <a:rPr lang="en-IN" sz="2400" dirty="0">
                <a:solidFill>
                  <a:srgbClr val="7030A0"/>
                </a:solidFill>
                <a:latin typeface="Times New Roman" panose="02020603050405020304" pitchFamily="18" charset="0"/>
                <a:cs typeface="Times New Roman" panose="02020603050405020304" pitchFamily="18" charset="0"/>
              </a:rPr>
              <a:t>Madasani  Sasi Kiran-Y22AIT468</a:t>
            </a:r>
          </a:p>
          <a:p>
            <a:pPr algn="ctr"/>
            <a:r>
              <a:rPr lang="en-IN" sz="2400" dirty="0">
                <a:latin typeface="Times New Roman" panose="02020603050405020304" pitchFamily="18" charset="0"/>
                <a:cs typeface="Times New Roman" panose="02020603050405020304" pitchFamily="18" charset="0"/>
              </a:rPr>
              <a:t>Under the Esteemed Guidance</a:t>
            </a:r>
          </a:p>
          <a:p>
            <a:pPr algn="ctr"/>
            <a:r>
              <a:rPr lang="en-IN" sz="2400" dirty="0">
                <a:latin typeface="Times New Roman" panose="02020603050405020304" pitchFamily="18" charset="0"/>
                <a:cs typeface="Times New Roman" panose="02020603050405020304" pitchFamily="18" charset="0"/>
              </a:rPr>
              <a:t>Of</a:t>
            </a:r>
          </a:p>
          <a:p>
            <a:pPr algn="ctr"/>
            <a:r>
              <a:rPr lang="en-IN" sz="2400" dirty="0">
                <a:latin typeface="Times New Roman" panose="02020603050405020304" pitchFamily="18" charset="0"/>
                <a:cs typeface="Times New Roman" panose="02020603050405020304" pitchFamily="18" charset="0"/>
              </a:rPr>
              <a:t>P. Ratna Prakash M. Tech,(</a:t>
            </a:r>
            <a:r>
              <a:rPr lang="en-IN" sz="2400" dirty="0" err="1">
                <a:latin typeface="Times New Roman" panose="02020603050405020304" pitchFamily="18" charset="0"/>
                <a:cs typeface="Times New Roman" panose="02020603050405020304" pitchFamily="18" charset="0"/>
              </a:rPr>
              <a:t>Ph.D</a:t>
            </a:r>
            <a:r>
              <a:rPr lang="en-IN" sz="2400" dirty="0">
                <a:latin typeface="Times New Roman" panose="02020603050405020304" pitchFamily="18" charset="0"/>
                <a:cs typeface="Times New Roman" panose="02020603050405020304" pitchFamily="18" charset="0"/>
              </a:rPr>
              <a:t>)</a:t>
            </a:r>
          </a:p>
          <a:p>
            <a:pPr algn="ctr"/>
            <a:r>
              <a:rPr lang="en-IN" sz="2400" dirty="0">
                <a:latin typeface="Times New Roman" panose="02020603050405020304" pitchFamily="18" charset="0"/>
                <a:cs typeface="Times New Roman" panose="02020603050405020304" pitchFamily="18" charset="0"/>
              </a:rPr>
              <a:t>Assistant Professor</a:t>
            </a:r>
          </a:p>
          <a:p>
            <a:pPr algn="ctr"/>
            <a:endParaRPr lang="en-IN" sz="24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3980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45976-017D-F00C-A98C-D00AA705BA96}"/>
              </a:ext>
            </a:extLst>
          </p:cNvPr>
          <p:cNvSpPr txBox="1"/>
          <p:nvPr/>
        </p:nvSpPr>
        <p:spPr>
          <a:xfrm>
            <a:off x="4369687" y="481782"/>
            <a:ext cx="1608325" cy="1015663"/>
          </a:xfrm>
          <a:prstGeom prst="rect">
            <a:avLst/>
          </a:prstGeom>
          <a:noFill/>
        </p:spPr>
        <p:txBody>
          <a:bodyPr wrap="none" rtlCol="0">
            <a:spAutoFit/>
          </a:bodyPr>
          <a:lstStyle/>
          <a:p>
            <a:r>
              <a:rPr lang="en-IN" sz="6000" dirty="0">
                <a:solidFill>
                  <a:srgbClr val="FF0000"/>
                </a:solidFill>
                <a:latin typeface="Times New Roman" panose="02020603050405020304" pitchFamily="18" charset="0"/>
                <a:cs typeface="Times New Roman" panose="02020603050405020304" pitchFamily="18" charset="0"/>
              </a:rPr>
              <a:t>Title</a:t>
            </a:r>
          </a:p>
        </p:txBody>
      </p:sp>
      <p:sp>
        <p:nvSpPr>
          <p:cNvPr id="3" name="TextBox 2">
            <a:extLst>
              <a:ext uri="{FF2B5EF4-FFF2-40B4-BE49-F238E27FC236}">
                <a16:creationId xmlns:a16="http://schemas.microsoft.com/office/drawing/2014/main" id="{72CB7FBF-8919-3ADE-0DDB-A0DAF454AA9C}"/>
              </a:ext>
            </a:extLst>
          </p:cNvPr>
          <p:cNvSpPr txBox="1"/>
          <p:nvPr/>
        </p:nvSpPr>
        <p:spPr>
          <a:xfrm>
            <a:off x="1145457" y="2180416"/>
            <a:ext cx="9665110" cy="1754326"/>
          </a:xfrm>
          <a:prstGeom prst="rect">
            <a:avLst/>
          </a:prstGeom>
          <a:noFill/>
        </p:spPr>
        <p:txBody>
          <a:bodyPr wrap="square" rtlCol="0">
            <a:spAutoFit/>
          </a:bodyPr>
          <a:lstStyle/>
          <a:p>
            <a:pPr algn="just"/>
            <a:r>
              <a:rPr lang="en-IN" sz="6000" dirty="0">
                <a:solidFill>
                  <a:srgbClr val="002060"/>
                </a:solidFill>
                <a:latin typeface="Times New Roman" panose="02020603050405020304" pitchFamily="18" charset="0"/>
                <a:cs typeface="Times New Roman" panose="02020603050405020304" pitchFamily="18" charset="0"/>
              </a:rPr>
              <a:t>Online Car Rental System</a:t>
            </a:r>
          </a:p>
          <a:p>
            <a:pPr algn="just"/>
            <a:endParaRPr lang="en-IN" sz="4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427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E06375-21B7-CA06-53C9-4348C6CA7938}"/>
              </a:ext>
            </a:extLst>
          </p:cNvPr>
          <p:cNvSpPr txBox="1"/>
          <p:nvPr/>
        </p:nvSpPr>
        <p:spPr>
          <a:xfrm>
            <a:off x="-273809" y="209724"/>
            <a:ext cx="11167672" cy="830997"/>
          </a:xfrm>
          <a:prstGeom prst="rect">
            <a:avLst/>
          </a:prstGeom>
          <a:noFill/>
        </p:spPr>
        <p:txBody>
          <a:bodyPr wrap="square" rtlCol="0">
            <a:spAutoFit/>
          </a:bodyPr>
          <a:lstStyle/>
          <a:p>
            <a:pPr algn="ctr"/>
            <a:r>
              <a:rPr lang="en-IN" sz="4800" dirty="0">
                <a:solidFill>
                  <a:srgbClr val="FF0000"/>
                </a:solidFill>
                <a:latin typeface="Times New Roman" panose="02020603050405020304" pitchFamily="18" charset="0"/>
                <a:cs typeface="Times New Roman" panose="02020603050405020304" pitchFamily="18" charset="0"/>
              </a:rPr>
              <a:t>Table of Contents</a:t>
            </a:r>
          </a:p>
        </p:txBody>
      </p:sp>
      <p:sp>
        <p:nvSpPr>
          <p:cNvPr id="3" name="TextBox 2">
            <a:extLst>
              <a:ext uri="{FF2B5EF4-FFF2-40B4-BE49-F238E27FC236}">
                <a16:creationId xmlns:a16="http://schemas.microsoft.com/office/drawing/2014/main" id="{1AE27EB9-1F8F-A213-1DB5-A6A65AEFDB94}"/>
              </a:ext>
            </a:extLst>
          </p:cNvPr>
          <p:cNvSpPr txBox="1"/>
          <p:nvPr/>
        </p:nvSpPr>
        <p:spPr>
          <a:xfrm>
            <a:off x="433965" y="1271428"/>
            <a:ext cx="5980366" cy="2585323"/>
          </a:xfrm>
          <a:prstGeom prst="rect">
            <a:avLst/>
          </a:prstGeom>
          <a:noFill/>
        </p:spPr>
        <p:txBody>
          <a:bodyPr wrap="square" rtlCol="0">
            <a:spAutoFit/>
          </a:bodyPr>
          <a:lstStyle/>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Abstract</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System Architecture</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Methodology</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Partial Implementation</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585596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C0D274-60BC-CD35-48BA-15C7727C4941}"/>
              </a:ext>
            </a:extLst>
          </p:cNvPr>
          <p:cNvSpPr txBox="1"/>
          <p:nvPr/>
        </p:nvSpPr>
        <p:spPr>
          <a:xfrm>
            <a:off x="3699559" y="488439"/>
            <a:ext cx="2531462"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Abstract</a:t>
            </a:r>
          </a:p>
        </p:txBody>
      </p:sp>
      <p:sp>
        <p:nvSpPr>
          <p:cNvPr id="9" name="Rectangle 5">
            <a:extLst>
              <a:ext uri="{FF2B5EF4-FFF2-40B4-BE49-F238E27FC236}">
                <a16:creationId xmlns:a16="http://schemas.microsoft.com/office/drawing/2014/main" id="{9308B30B-4F47-A4C2-FE7E-99E9D4A937C1}"/>
              </a:ext>
            </a:extLst>
          </p:cNvPr>
          <p:cNvSpPr>
            <a:spLocks noChangeArrowheads="1"/>
          </p:cNvSpPr>
          <p:nvPr/>
        </p:nvSpPr>
        <p:spPr bwMode="auto">
          <a:xfrm>
            <a:off x="562062" y="2753094"/>
            <a:ext cx="92111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endParaRPr kumimoji="0" lang="en-US" altLang="en-US" sz="2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4B8D1DE-D720-7B96-D224-6AA1D1720B3D}"/>
              </a:ext>
            </a:extLst>
          </p:cNvPr>
          <p:cNvSpPr txBox="1"/>
          <p:nvPr/>
        </p:nvSpPr>
        <p:spPr>
          <a:xfrm>
            <a:off x="679508" y="1581138"/>
            <a:ext cx="9093666" cy="4678204"/>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Online Car Rental System</a:t>
            </a:r>
            <a:r>
              <a:rPr lang="en-US" sz="2800" dirty="0">
                <a:latin typeface="Times New Roman" panose="02020603050405020304" pitchFamily="18" charset="0"/>
                <a:cs typeface="Times New Roman" panose="02020603050405020304" pitchFamily="18" charset="0"/>
              </a:rPr>
              <a:t> is a full-stack web application designed to streamline the vehicle rental process. It allows users to register with driving license verification, browse and filter cars, and book vehicles with automatic price calculation. The system ensures secure authentication and prevents overlapping bookings through availability checks. An admin panel enables efficient management of users, cars, and bookings. Built using MVC architecture, the application improves efficiency, security, and user experience in car rental services.</a:t>
            </a:r>
            <a:endParaRPr lang="en-IN" sz="2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925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08F685-2C38-0CA8-77FA-C191183AD110}"/>
              </a:ext>
            </a:extLst>
          </p:cNvPr>
          <p:cNvSpPr txBox="1"/>
          <p:nvPr/>
        </p:nvSpPr>
        <p:spPr>
          <a:xfrm>
            <a:off x="2811676" y="-514019"/>
            <a:ext cx="5192127" cy="1446550"/>
          </a:xfrm>
          <a:prstGeom prst="rect">
            <a:avLst/>
          </a:prstGeom>
          <a:noFill/>
        </p:spPr>
        <p:txBody>
          <a:bodyPr wrap="none" rtlCol="0">
            <a:spAutoFit/>
          </a:bodyPr>
          <a:lstStyle/>
          <a:p>
            <a:endParaRPr lang="en-IN" sz="4000" b="1" dirty="0">
              <a:solidFill>
                <a:srgbClr val="FF0000"/>
              </a:solidFill>
              <a:latin typeface="Times New Roman" panose="02020603050405020304" pitchFamily="18" charset="0"/>
              <a:cs typeface="Times New Roman" panose="02020603050405020304" pitchFamily="18" charset="0"/>
            </a:endParaRPr>
          </a:p>
          <a:p>
            <a:r>
              <a:rPr lang="en-IN" sz="4800" dirty="0">
                <a:solidFill>
                  <a:srgbClr val="FF0000"/>
                </a:solidFill>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B26CD41A-E318-726C-C1A4-D25B1C1DF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7031" y="847288"/>
            <a:ext cx="5814969" cy="5788404"/>
          </a:xfrm>
          <a:prstGeom prst="rect">
            <a:avLst/>
          </a:prstGeom>
        </p:spPr>
      </p:pic>
    </p:spTree>
    <p:extLst>
      <p:ext uri="{BB962C8B-B14F-4D97-AF65-F5344CB8AC3E}">
        <p14:creationId xmlns:p14="http://schemas.microsoft.com/office/powerpoint/2010/main" val="4137767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3CA763-66CB-8EE4-EECE-F9844B019B92}"/>
              </a:ext>
            </a:extLst>
          </p:cNvPr>
          <p:cNvSpPr txBox="1"/>
          <p:nvPr/>
        </p:nvSpPr>
        <p:spPr>
          <a:xfrm>
            <a:off x="3803472" y="149901"/>
            <a:ext cx="2949846" cy="707886"/>
          </a:xfrm>
          <a:prstGeom prst="rect">
            <a:avLst/>
          </a:prstGeom>
          <a:noFill/>
        </p:spPr>
        <p:txBody>
          <a:bodyPr wrap="non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Methodology</a:t>
            </a:r>
          </a:p>
        </p:txBody>
      </p:sp>
      <p:sp>
        <p:nvSpPr>
          <p:cNvPr id="4" name="TextBox 3">
            <a:extLst>
              <a:ext uri="{FF2B5EF4-FFF2-40B4-BE49-F238E27FC236}">
                <a16:creationId xmlns:a16="http://schemas.microsoft.com/office/drawing/2014/main" id="{7AD450D3-E9A4-8DEA-CF94-01EEFAC7F882}"/>
              </a:ext>
            </a:extLst>
          </p:cNvPr>
          <p:cNvSpPr txBox="1"/>
          <p:nvPr/>
        </p:nvSpPr>
        <p:spPr>
          <a:xfrm>
            <a:off x="613235" y="1482505"/>
            <a:ext cx="9615546" cy="353943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methodology of the Online Car Rental System begins with user registration and driving license verification to ensure authenticity. After successful login, users can browse, search, and filter available cars based on their preferences. The system checks car availability and allows users to book vehicles by selecting rental dates, with automatic price calculation. Admin manages users, cars, and bookings through a dashboard, ensuring smooth operation and efficient system management.</a:t>
            </a:r>
          </a:p>
        </p:txBody>
      </p:sp>
    </p:spTree>
    <p:extLst>
      <p:ext uri="{BB962C8B-B14F-4D97-AF65-F5344CB8AC3E}">
        <p14:creationId xmlns:p14="http://schemas.microsoft.com/office/powerpoint/2010/main" val="2893716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Methodology for online car rental system">
            <a:extLst>
              <a:ext uri="{FF2B5EF4-FFF2-40B4-BE49-F238E27FC236}">
                <a16:creationId xmlns:a16="http://schemas.microsoft.com/office/drawing/2014/main" id="{C5F9DF15-62E8-AE64-8734-8F604675CFA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8F829345-4F21-91DE-EBDC-B87171D9AD3E}"/>
              </a:ext>
            </a:extLst>
          </p:cNvPr>
          <p:cNvPicPr>
            <a:picLocks noChangeAspect="1"/>
          </p:cNvPicPr>
          <p:nvPr/>
        </p:nvPicPr>
        <p:blipFill>
          <a:blip r:embed="rId2"/>
          <a:stretch>
            <a:fillRect/>
          </a:stretch>
        </p:blipFill>
        <p:spPr>
          <a:xfrm>
            <a:off x="3591887" y="0"/>
            <a:ext cx="4572000" cy="6858000"/>
          </a:xfrm>
          <a:prstGeom prst="rect">
            <a:avLst/>
          </a:prstGeom>
        </p:spPr>
      </p:pic>
    </p:spTree>
    <p:extLst>
      <p:ext uri="{BB962C8B-B14F-4D97-AF65-F5344CB8AC3E}">
        <p14:creationId xmlns:p14="http://schemas.microsoft.com/office/powerpoint/2010/main" val="110658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F16479-2FB4-1F2C-50C6-522369378710}"/>
              </a:ext>
            </a:extLst>
          </p:cNvPr>
          <p:cNvSpPr txBox="1"/>
          <p:nvPr/>
        </p:nvSpPr>
        <p:spPr>
          <a:xfrm>
            <a:off x="2119252" y="82736"/>
            <a:ext cx="6551794"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Partial Implementation</a:t>
            </a:r>
          </a:p>
        </p:txBody>
      </p:sp>
      <p:sp>
        <p:nvSpPr>
          <p:cNvPr id="5" name="Rectangle 2">
            <a:extLst>
              <a:ext uri="{FF2B5EF4-FFF2-40B4-BE49-F238E27FC236}">
                <a16:creationId xmlns:a16="http://schemas.microsoft.com/office/drawing/2014/main" id="{A747BA81-D0E3-8CC4-266D-3F48C19539D1}"/>
              </a:ext>
            </a:extLst>
          </p:cNvPr>
          <p:cNvSpPr>
            <a:spLocks noChangeArrowheads="1"/>
          </p:cNvSpPr>
          <p:nvPr/>
        </p:nvSpPr>
        <p:spPr bwMode="auto">
          <a:xfrm>
            <a:off x="269824" y="2362862"/>
            <a:ext cx="602770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CC00CC"/>
                </a:solidFill>
                <a:effectLst/>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603776E5-022A-C369-4A1F-38DFFEE07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0330" y="1249959"/>
            <a:ext cx="8121778" cy="4992145"/>
          </a:xfrm>
          <a:prstGeom prst="rect">
            <a:avLst/>
          </a:prstGeom>
        </p:spPr>
      </p:pic>
    </p:spTree>
    <p:extLst>
      <p:ext uri="{BB962C8B-B14F-4D97-AF65-F5344CB8AC3E}">
        <p14:creationId xmlns:p14="http://schemas.microsoft.com/office/powerpoint/2010/main" val="2100666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CEF51D-D2FF-7B2B-371B-9E8CDBD27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649" y="503339"/>
            <a:ext cx="7095485" cy="5515761"/>
          </a:xfrm>
          <a:prstGeom prst="rect">
            <a:avLst/>
          </a:prstGeom>
        </p:spPr>
      </p:pic>
    </p:spTree>
    <p:extLst>
      <p:ext uri="{BB962C8B-B14F-4D97-AF65-F5344CB8AC3E}">
        <p14:creationId xmlns:p14="http://schemas.microsoft.com/office/powerpoint/2010/main" val="1978095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87ADE3F-EA2D-A171-C785-25D28F54B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049" y="553673"/>
            <a:ext cx="7335301" cy="5381538"/>
          </a:xfrm>
          <a:prstGeom prst="rect">
            <a:avLst/>
          </a:prstGeom>
        </p:spPr>
      </p:pic>
    </p:spTree>
    <p:extLst>
      <p:ext uri="{BB962C8B-B14F-4D97-AF65-F5344CB8AC3E}">
        <p14:creationId xmlns:p14="http://schemas.microsoft.com/office/powerpoint/2010/main" val="2975191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F20F45-B7EE-6583-B966-6FEDB360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165" y="523833"/>
            <a:ext cx="6706433" cy="5411377"/>
          </a:xfrm>
          <a:prstGeom prst="rect">
            <a:avLst/>
          </a:prstGeom>
        </p:spPr>
      </p:pic>
    </p:spTree>
    <p:extLst>
      <p:ext uri="{BB962C8B-B14F-4D97-AF65-F5344CB8AC3E}">
        <p14:creationId xmlns:p14="http://schemas.microsoft.com/office/powerpoint/2010/main" val="1062602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1DE2FA-72B3-7126-5823-B70A9AB6A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477" y="671119"/>
            <a:ext cx="8133830" cy="5184452"/>
          </a:xfrm>
          <a:prstGeom prst="rect">
            <a:avLst/>
          </a:prstGeom>
        </p:spPr>
      </p:pic>
    </p:spTree>
    <p:extLst>
      <p:ext uri="{BB962C8B-B14F-4D97-AF65-F5344CB8AC3E}">
        <p14:creationId xmlns:p14="http://schemas.microsoft.com/office/powerpoint/2010/main" val="393048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5EB03A-3589-33D9-7538-FE65B4C1CA3F}"/>
              </a:ext>
            </a:extLst>
          </p:cNvPr>
          <p:cNvSpPr txBox="1"/>
          <p:nvPr/>
        </p:nvSpPr>
        <p:spPr>
          <a:xfrm>
            <a:off x="715981" y="2106521"/>
            <a:ext cx="9298876" cy="2308324"/>
          </a:xfrm>
          <a:prstGeom prst="rect">
            <a:avLst/>
          </a:prstGeom>
          <a:noFill/>
        </p:spPr>
        <p:txBody>
          <a:bodyPr wrap="square" rtlCol="0">
            <a:spAutoFit/>
          </a:bodyPr>
          <a:lstStyle/>
          <a:p>
            <a:r>
              <a:rPr lang="en-IN" sz="7200" dirty="0">
                <a:solidFill>
                  <a:srgbClr val="FF0000"/>
                </a:solidFill>
                <a:latin typeface="Cooper Black" panose="0208090404030B020404" pitchFamily="18" charset="0"/>
                <a:cs typeface="Times New Roman" panose="02020603050405020304" pitchFamily="18" charset="0"/>
              </a:rPr>
              <a:t>              Any Recommendations</a:t>
            </a:r>
            <a:r>
              <a:rPr lang="en-IN" sz="7200" dirty="0">
                <a:solidFill>
                  <a:srgbClr val="FF0000"/>
                </a:solidFill>
                <a:latin typeface="Cooper Black" panose="0208090404030B020404" pitchFamily="18" charset="0"/>
              </a:rPr>
              <a:t>?</a:t>
            </a:r>
          </a:p>
        </p:txBody>
      </p:sp>
    </p:spTree>
    <p:extLst>
      <p:ext uri="{BB962C8B-B14F-4D97-AF65-F5344CB8AC3E}">
        <p14:creationId xmlns:p14="http://schemas.microsoft.com/office/powerpoint/2010/main" val="3738757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A37A66-FB32-68D4-7A1C-C86B022CA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67"/>
            <a:ext cx="12191999" cy="6858000"/>
          </a:xfrm>
          <a:prstGeom prst="rect">
            <a:avLst/>
          </a:prstGeom>
        </p:spPr>
      </p:pic>
    </p:spTree>
    <p:extLst>
      <p:ext uri="{BB962C8B-B14F-4D97-AF65-F5344CB8AC3E}">
        <p14:creationId xmlns:p14="http://schemas.microsoft.com/office/powerpoint/2010/main" val="48906942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1993</TotalTime>
  <Words>243</Words>
  <Application>Microsoft Office PowerPoint</Application>
  <PresentationFormat>Widescreen</PresentationFormat>
  <Paragraphs>34</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Arial</vt:lpstr>
      <vt:lpstr>Cooper Black</vt:lpstr>
      <vt:lpstr>Old English Text MT</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PARISA VENKAT</dc:creator>
  <cp:lastModifiedBy>vanja venkatesh</cp:lastModifiedBy>
  <cp:revision>105</cp:revision>
  <dcterms:created xsi:type="dcterms:W3CDTF">2025-11-18T12:59:42Z</dcterms:created>
  <dcterms:modified xsi:type="dcterms:W3CDTF">2026-04-14T03:42:53Z</dcterms:modified>
</cp:coreProperties>
</file>