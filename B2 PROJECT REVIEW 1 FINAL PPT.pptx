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1"/>
  </p:sldMasterIdLst>
  <p:notesMasterIdLst>
    <p:notesMasterId r:id="rId19"/>
  </p:notesMasterIdLst>
  <p:sldIdLst>
    <p:sldId id="256" r:id="rId2"/>
    <p:sldId id="275" r:id="rId3"/>
    <p:sldId id="257" r:id="rId4"/>
    <p:sldId id="272" r:id="rId5"/>
    <p:sldId id="259" r:id="rId6"/>
    <p:sldId id="277" r:id="rId7"/>
    <p:sldId id="278" r:id="rId8"/>
    <p:sldId id="261" r:id="rId9"/>
    <p:sldId id="262" r:id="rId10"/>
    <p:sldId id="264" r:id="rId11"/>
    <p:sldId id="274" r:id="rId12"/>
    <p:sldId id="266" r:id="rId13"/>
    <p:sldId id="280" r:id="rId14"/>
    <p:sldId id="281" r:id="rId15"/>
    <p:sldId id="269" r:id="rId16"/>
    <p:sldId id="273"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C621F-5E46-4AC6-B2A4-C6A6B79540FF}" type="datetimeFigureOut">
              <a:rPr lang="en-IN" smtClean="0"/>
              <a:t>14-04-2026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F3051-5569-4645-AD54-AEDA4A6B8FC1}" type="slidenum">
              <a:rPr lang="en-IN" smtClean="0"/>
              <a:t>‹#›</a:t>
            </a:fld>
            <a:endParaRPr lang="en-IN"/>
          </a:p>
        </p:txBody>
      </p:sp>
    </p:spTree>
    <p:extLst>
      <p:ext uri="{BB962C8B-B14F-4D97-AF65-F5344CB8AC3E}">
        <p14:creationId xmlns:p14="http://schemas.microsoft.com/office/powerpoint/2010/main" val="35319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D5F3051-5569-4645-AD54-AEDA4A6B8FC1}" type="slidenum">
              <a:rPr lang="en-IN" smtClean="0"/>
              <a:t>15</a:t>
            </a:fld>
            <a:endParaRPr lang="en-IN"/>
          </a:p>
        </p:txBody>
      </p:sp>
    </p:spTree>
    <p:extLst>
      <p:ext uri="{BB962C8B-B14F-4D97-AF65-F5344CB8AC3E}">
        <p14:creationId xmlns:p14="http://schemas.microsoft.com/office/powerpoint/2010/main" val="899304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40933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193225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260545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274712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D3EFBE-7814-4E94-8536-52E51A3D289F}" type="datetimeFigureOut">
              <a:rPr lang="en-IN" smtClean="0"/>
              <a:t>14-04-2026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80142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D3EFBE-7814-4E94-8536-52E51A3D289F}"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413049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D3EFBE-7814-4E94-8536-52E51A3D289F}" type="datetimeFigureOut">
              <a:rPr lang="en-IN" smtClean="0"/>
              <a:t>14-04-2026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23447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080849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68818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193134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64849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071981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65868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158516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2004057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3696715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D3EFBE-7814-4E94-8536-52E51A3D289F}" type="datetimeFigureOut">
              <a:rPr lang="en-IN" smtClean="0"/>
              <a:t>14-04-2026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100AE6-8269-4E23-BC42-D00B2D9109A6}" type="slidenum">
              <a:rPr lang="en-IN" smtClean="0"/>
              <a:t>‹#›</a:t>
            </a:fld>
            <a:endParaRPr lang="en-IN"/>
          </a:p>
        </p:txBody>
      </p:sp>
    </p:spTree>
    <p:extLst>
      <p:ext uri="{BB962C8B-B14F-4D97-AF65-F5344CB8AC3E}">
        <p14:creationId xmlns:p14="http://schemas.microsoft.com/office/powerpoint/2010/main" val="2122334286"/>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8012E5-F408-9128-2ECC-C88593D0AF1B}"/>
              </a:ext>
            </a:extLst>
          </p:cNvPr>
          <p:cNvSpPr txBox="1"/>
          <p:nvPr/>
        </p:nvSpPr>
        <p:spPr>
          <a:xfrm>
            <a:off x="701317" y="258012"/>
            <a:ext cx="9312492" cy="6986528"/>
          </a:xfrm>
          <a:prstGeom prst="rect">
            <a:avLst/>
          </a:prstGeom>
          <a:noFill/>
        </p:spPr>
        <p:txBody>
          <a:bodyPr wrap="square" rtlCol="0">
            <a:spAutoFit/>
          </a:bodyPr>
          <a:lstStyle/>
          <a:p>
            <a:r>
              <a:rPr lang="en-IN" sz="4400" dirty="0" err="1">
                <a:latin typeface="Old English Text MT" panose="03040902040508030806" pitchFamily="66" charset="0"/>
                <a:cs typeface="Times New Roman" panose="02020603050405020304" pitchFamily="18" charset="0"/>
              </a:rPr>
              <a:t>Bapatla</a:t>
            </a:r>
            <a:r>
              <a:rPr lang="en-IN" sz="4400" dirty="0">
                <a:latin typeface="Old English Text MT" panose="03040902040508030806" pitchFamily="66" charset="0"/>
                <a:cs typeface="Times New Roman" panose="02020603050405020304" pitchFamily="18" charset="0"/>
              </a:rPr>
              <a:t> Engineering College::</a:t>
            </a:r>
            <a:r>
              <a:rPr lang="en-IN" sz="4400" dirty="0" err="1">
                <a:latin typeface="Old English Text MT" panose="03040902040508030806" pitchFamily="66" charset="0"/>
                <a:cs typeface="Times New Roman" panose="02020603050405020304" pitchFamily="18" charset="0"/>
              </a:rPr>
              <a:t>Bapatla</a:t>
            </a:r>
            <a:r>
              <a:rPr lang="en-IN" sz="4400" dirty="0">
                <a:latin typeface="Old English Text MT" panose="03040902040508030806" pitchFamily="66" charset="0"/>
                <a:cs typeface="Times New Roman" panose="02020603050405020304" pitchFamily="18" charset="0"/>
              </a:rPr>
              <a:t> </a:t>
            </a:r>
          </a:p>
          <a:p>
            <a:pPr algn="ctr"/>
            <a:r>
              <a:rPr lang="en-IN" sz="3600" dirty="0">
                <a:latin typeface="Times New Roman" panose="02020603050405020304" pitchFamily="18" charset="0"/>
                <a:cs typeface="Times New Roman" panose="02020603050405020304" pitchFamily="18" charset="0"/>
              </a:rPr>
              <a:t>Department of Information Technology</a:t>
            </a:r>
          </a:p>
          <a:p>
            <a:pPr algn="ctr"/>
            <a:r>
              <a:rPr lang="en-IN" sz="3200" dirty="0">
                <a:solidFill>
                  <a:srgbClr val="0070C0"/>
                </a:solidFill>
                <a:latin typeface="Times New Roman" panose="02020603050405020304" pitchFamily="18" charset="0"/>
                <a:cs typeface="Times New Roman" panose="02020603050405020304" pitchFamily="18" charset="0"/>
              </a:rPr>
              <a:t>Project Review-I</a:t>
            </a:r>
          </a:p>
          <a:p>
            <a:pPr algn="ctr"/>
            <a:r>
              <a:rPr lang="en-IN" sz="2800" dirty="0">
                <a:latin typeface="Times New Roman" panose="02020603050405020304" pitchFamily="18" charset="0"/>
                <a:cs typeface="Times New Roman" panose="02020603050405020304" pitchFamily="18" charset="0"/>
              </a:rPr>
              <a:t>on</a:t>
            </a:r>
          </a:p>
          <a:p>
            <a:pPr algn="ctr"/>
            <a:r>
              <a:rPr lang="en-IN" sz="3200" dirty="0">
                <a:solidFill>
                  <a:srgbClr val="FF0000"/>
                </a:solidFill>
                <a:latin typeface="Times New Roman" panose="02020603050405020304" pitchFamily="18" charset="0"/>
                <a:cs typeface="Times New Roman" panose="02020603050405020304" pitchFamily="18" charset="0"/>
              </a:rPr>
              <a:t>Online Car Rental System</a:t>
            </a:r>
          </a:p>
          <a:p>
            <a:pPr algn="ctr"/>
            <a:r>
              <a:rPr lang="en-IN" sz="2400" dirty="0">
                <a:latin typeface="Times New Roman" panose="02020603050405020304" pitchFamily="18" charset="0"/>
                <a:cs typeface="Times New Roman" panose="02020603050405020304" pitchFamily="18" charset="0"/>
              </a:rPr>
              <a:t>By</a:t>
            </a:r>
          </a:p>
          <a:p>
            <a:pPr algn="ctr"/>
            <a:r>
              <a:rPr lang="en-IN" sz="2400" dirty="0" err="1">
                <a:solidFill>
                  <a:srgbClr val="7030A0"/>
                </a:solidFill>
                <a:latin typeface="Times New Roman" panose="02020603050405020304" pitchFamily="18" charset="0"/>
                <a:cs typeface="Times New Roman" panose="02020603050405020304" pitchFamily="18" charset="0"/>
              </a:rPr>
              <a:t>Pothamsetty</a:t>
            </a:r>
            <a:r>
              <a:rPr lang="en-IN" sz="2400" dirty="0">
                <a:solidFill>
                  <a:srgbClr val="7030A0"/>
                </a:solidFill>
                <a:latin typeface="Times New Roman" panose="02020603050405020304" pitchFamily="18" charset="0"/>
                <a:cs typeface="Times New Roman" panose="02020603050405020304" pitchFamily="18" charset="0"/>
              </a:rPr>
              <a:t> Hari Prasad-Y22AIT497</a:t>
            </a:r>
          </a:p>
          <a:p>
            <a:pPr algn="ctr"/>
            <a:r>
              <a:rPr lang="en-IN" sz="2400" dirty="0">
                <a:solidFill>
                  <a:srgbClr val="7030A0"/>
                </a:solidFill>
                <a:latin typeface="Times New Roman" panose="02020603050405020304" pitchFamily="18" charset="0"/>
                <a:cs typeface="Times New Roman" panose="02020603050405020304" pitchFamily="18" charset="0"/>
              </a:rPr>
              <a:t>Shaik </a:t>
            </a:r>
            <a:r>
              <a:rPr lang="en-IN" sz="2400" dirty="0" err="1">
                <a:solidFill>
                  <a:srgbClr val="7030A0"/>
                </a:solidFill>
                <a:latin typeface="Times New Roman" panose="02020603050405020304" pitchFamily="18" charset="0"/>
                <a:cs typeface="Times New Roman" panose="02020603050405020304" pitchFamily="18" charset="0"/>
              </a:rPr>
              <a:t>Nagoor</a:t>
            </a:r>
            <a:r>
              <a:rPr lang="en-IN" sz="2400" dirty="0">
                <a:solidFill>
                  <a:srgbClr val="7030A0"/>
                </a:solidFill>
                <a:latin typeface="Times New Roman" panose="02020603050405020304" pitchFamily="18" charset="0"/>
                <a:cs typeface="Times New Roman" panose="02020603050405020304" pitchFamily="18" charset="0"/>
              </a:rPr>
              <a:t> Basha-Y22AIT508</a:t>
            </a:r>
          </a:p>
          <a:p>
            <a:pPr algn="ctr"/>
            <a:r>
              <a:rPr lang="en-IN" sz="2400" dirty="0">
                <a:solidFill>
                  <a:srgbClr val="7030A0"/>
                </a:solidFill>
                <a:latin typeface="Times New Roman" panose="02020603050405020304" pitchFamily="18" charset="0"/>
                <a:cs typeface="Times New Roman" panose="02020603050405020304" pitchFamily="18" charset="0"/>
              </a:rPr>
              <a:t>Vanja Sasi Kumar-Y22AIT521</a:t>
            </a:r>
          </a:p>
          <a:p>
            <a:pPr algn="ctr"/>
            <a:r>
              <a:rPr lang="en-IN" sz="2400" dirty="0">
                <a:solidFill>
                  <a:srgbClr val="7030A0"/>
                </a:solidFill>
                <a:latin typeface="Times New Roman" panose="02020603050405020304" pitchFamily="18" charset="0"/>
                <a:cs typeface="Times New Roman" panose="02020603050405020304" pitchFamily="18" charset="0"/>
              </a:rPr>
              <a:t>Madasani  Sasi Kiran-Y22AIT468</a:t>
            </a:r>
          </a:p>
          <a:p>
            <a:pPr algn="ctr"/>
            <a:r>
              <a:rPr lang="en-IN" sz="2400" dirty="0">
                <a:latin typeface="Times New Roman" panose="02020603050405020304" pitchFamily="18" charset="0"/>
                <a:cs typeface="Times New Roman" panose="02020603050405020304" pitchFamily="18" charset="0"/>
              </a:rPr>
              <a:t>Under the Esteemed Guidance</a:t>
            </a:r>
          </a:p>
          <a:p>
            <a:pPr algn="ctr"/>
            <a:r>
              <a:rPr lang="en-IN" sz="2400" dirty="0">
                <a:latin typeface="Times New Roman" panose="02020603050405020304" pitchFamily="18" charset="0"/>
                <a:cs typeface="Times New Roman" panose="02020603050405020304" pitchFamily="18" charset="0"/>
              </a:rPr>
              <a:t>Of</a:t>
            </a:r>
          </a:p>
          <a:p>
            <a:pPr algn="ctr"/>
            <a:r>
              <a:rPr lang="en-IN" sz="2400" dirty="0">
                <a:latin typeface="Times New Roman" panose="02020603050405020304" pitchFamily="18" charset="0"/>
                <a:cs typeface="Times New Roman" panose="02020603050405020304" pitchFamily="18" charset="0"/>
              </a:rPr>
              <a:t>P. Ratna Prakash M. Tech,(</a:t>
            </a:r>
            <a:r>
              <a:rPr lang="en-IN" sz="2400" dirty="0" err="1">
                <a:latin typeface="Times New Roman" panose="02020603050405020304" pitchFamily="18" charset="0"/>
                <a:cs typeface="Times New Roman" panose="02020603050405020304" pitchFamily="18" charset="0"/>
              </a:rPr>
              <a:t>Ph.D</a:t>
            </a:r>
            <a:r>
              <a:rPr lang="en-IN" sz="2400" dirty="0">
                <a:latin typeface="Times New Roman" panose="02020603050405020304" pitchFamily="18" charset="0"/>
                <a:cs typeface="Times New Roman" panose="02020603050405020304" pitchFamily="18" charset="0"/>
              </a:rPr>
              <a:t>)</a:t>
            </a:r>
          </a:p>
          <a:p>
            <a:pPr algn="ctr"/>
            <a:r>
              <a:rPr lang="en-IN" sz="2400" dirty="0">
                <a:latin typeface="Times New Roman" panose="02020603050405020304" pitchFamily="18" charset="0"/>
                <a:cs typeface="Times New Roman" panose="02020603050405020304" pitchFamily="18" charset="0"/>
              </a:rPr>
              <a:t>Assistant Professor</a:t>
            </a:r>
          </a:p>
          <a:p>
            <a:pPr algn="ctr"/>
            <a:endParaRPr lang="en-IN" sz="24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3980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45976-017D-F00C-A98C-D00AA705BA96}"/>
              </a:ext>
            </a:extLst>
          </p:cNvPr>
          <p:cNvSpPr txBox="1"/>
          <p:nvPr/>
        </p:nvSpPr>
        <p:spPr>
          <a:xfrm>
            <a:off x="4369687" y="481782"/>
            <a:ext cx="1608325" cy="1015663"/>
          </a:xfrm>
          <a:prstGeom prst="rect">
            <a:avLst/>
          </a:prstGeom>
          <a:noFill/>
        </p:spPr>
        <p:txBody>
          <a:bodyPr wrap="none" rtlCol="0">
            <a:spAutoFit/>
          </a:bodyPr>
          <a:lstStyle/>
          <a:p>
            <a:r>
              <a:rPr lang="en-IN" sz="6000" dirty="0">
                <a:solidFill>
                  <a:srgbClr val="FF0000"/>
                </a:solidFill>
                <a:latin typeface="Times New Roman" panose="02020603050405020304" pitchFamily="18" charset="0"/>
                <a:cs typeface="Times New Roman" panose="02020603050405020304" pitchFamily="18" charset="0"/>
              </a:rPr>
              <a:t>Title</a:t>
            </a:r>
          </a:p>
        </p:txBody>
      </p:sp>
      <p:sp>
        <p:nvSpPr>
          <p:cNvPr id="3" name="TextBox 2">
            <a:extLst>
              <a:ext uri="{FF2B5EF4-FFF2-40B4-BE49-F238E27FC236}">
                <a16:creationId xmlns:a16="http://schemas.microsoft.com/office/drawing/2014/main" id="{72CB7FBF-8919-3ADE-0DDB-A0DAF454AA9C}"/>
              </a:ext>
            </a:extLst>
          </p:cNvPr>
          <p:cNvSpPr txBox="1"/>
          <p:nvPr/>
        </p:nvSpPr>
        <p:spPr>
          <a:xfrm>
            <a:off x="459282" y="2281084"/>
            <a:ext cx="9665110" cy="1015663"/>
          </a:xfrm>
          <a:prstGeom prst="rect">
            <a:avLst/>
          </a:prstGeom>
          <a:noFill/>
        </p:spPr>
        <p:txBody>
          <a:bodyPr wrap="square" rtlCol="0">
            <a:spAutoFit/>
          </a:bodyPr>
          <a:lstStyle/>
          <a:p>
            <a:pPr algn="just"/>
            <a:r>
              <a:rPr lang="en-IN" sz="6000" b="1" dirty="0">
                <a:solidFill>
                  <a:srgbClr val="002060"/>
                </a:solidFill>
                <a:latin typeface="Times New Roman" panose="02020603050405020304" pitchFamily="18" charset="0"/>
                <a:cs typeface="Times New Roman" panose="02020603050405020304" pitchFamily="18" charset="0"/>
              </a:rPr>
              <a:t>Online Car Rental System</a:t>
            </a:r>
          </a:p>
        </p:txBody>
      </p:sp>
    </p:spTree>
    <p:extLst>
      <p:ext uri="{BB962C8B-B14F-4D97-AF65-F5344CB8AC3E}">
        <p14:creationId xmlns:p14="http://schemas.microsoft.com/office/powerpoint/2010/main" val="121842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06375-21B7-CA06-53C9-4348C6CA7938}"/>
              </a:ext>
            </a:extLst>
          </p:cNvPr>
          <p:cNvSpPr txBox="1"/>
          <p:nvPr/>
        </p:nvSpPr>
        <p:spPr>
          <a:xfrm>
            <a:off x="-869427" y="0"/>
            <a:ext cx="11167672" cy="830997"/>
          </a:xfrm>
          <a:prstGeom prst="rect">
            <a:avLst/>
          </a:prstGeom>
          <a:noFill/>
        </p:spPr>
        <p:txBody>
          <a:bodyPr wrap="square" rtlCol="0">
            <a:sp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Table of Contents</a:t>
            </a:r>
          </a:p>
        </p:txBody>
      </p:sp>
      <p:sp>
        <p:nvSpPr>
          <p:cNvPr id="3" name="TextBox 2">
            <a:extLst>
              <a:ext uri="{FF2B5EF4-FFF2-40B4-BE49-F238E27FC236}">
                <a16:creationId xmlns:a16="http://schemas.microsoft.com/office/drawing/2014/main" id="{1AE27EB9-1F8F-A213-1DB5-A6A65AEFDB94}"/>
              </a:ext>
            </a:extLst>
          </p:cNvPr>
          <p:cNvSpPr txBox="1"/>
          <p:nvPr/>
        </p:nvSpPr>
        <p:spPr>
          <a:xfrm>
            <a:off x="626911" y="717755"/>
            <a:ext cx="5980366" cy="5909310"/>
          </a:xfrm>
          <a:prstGeom prst="rect">
            <a:avLst/>
          </a:prstGeom>
          <a:noFill/>
        </p:spPr>
        <p:txBody>
          <a:bodyPr wrap="square" rtlCol="0">
            <a:spAutoFit/>
          </a:bodyPr>
          <a:lstStyle/>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Abstract</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Introduction</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Problem Statement</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Literature Survey</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Existing System</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Proposed System</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System Architecture</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Requirements</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Modules</a:t>
            </a:r>
          </a:p>
          <a:p>
            <a:pPr marL="571500" indent="-571500">
              <a:buFont typeface="Wingdings" panose="05000000000000000000" pitchFamily="2" charset="2"/>
              <a:buChar char="Ø"/>
            </a:pPr>
            <a:r>
              <a:rPr lang="en-IN" sz="3600" dirty="0">
                <a:solidFill>
                  <a:srgbClr val="002060"/>
                </a:solidFill>
                <a:latin typeface="Times New Roman" panose="02020603050405020304" pitchFamily="18" charset="0"/>
                <a:cs typeface="Times New Roman" panose="02020603050405020304" pitchFamily="18" charset="0"/>
              </a:rPr>
              <a:t>Conclusion</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585596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C0D274-60BC-CD35-48BA-15C7727C4941}"/>
              </a:ext>
            </a:extLst>
          </p:cNvPr>
          <p:cNvSpPr txBox="1"/>
          <p:nvPr/>
        </p:nvSpPr>
        <p:spPr>
          <a:xfrm>
            <a:off x="3699559" y="488439"/>
            <a:ext cx="2531462"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ACE8F16C-1F43-9886-0BBB-6D2861748416}"/>
              </a:ext>
            </a:extLst>
          </p:cNvPr>
          <p:cNvSpPr txBox="1"/>
          <p:nvPr/>
        </p:nvSpPr>
        <p:spPr>
          <a:xfrm>
            <a:off x="704675" y="1861436"/>
            <a:ext cx="8443519" cy="341632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Online Car Rental System</a:t>
            </a:r>
            <a:r>
              <a:rPr lang="en-US" sz="2400" dirty="0">
                <a:latin typeface="Times New Roman" panose="02020603050405020304" pitchFamily="18" charset="0"/>
                <a:cs typeface="Times New Roman" panose="02020603050405020304" pitchFamily="18" charset="0"/>
              </a:rPr>
              <a:t> is a full-stack web application designed to streamline the vehicle rental process. It allows users to register with driving license verification, browse and filter cars, and book vehicles with automatic price calculation. The system ensures secure authentication and prevents overlapping bookings through availability checks. An admin panel enables efficient management of users, cars, and bookings. Built using MVC architecture, the application improves efficiency, security, and user experience in car rental services</a:t>
            </a:r>
            <a:r>
              <a:rPr lang="en-US" sz="2400" dirty="0"/>
              <a:t>.</a:t>
            </a:r>
            <a:endParaRPr lang="en-IN" sz="2400" dirty="0"/>
          </a:p>
        </p:txBody>
      </p:sp>
    </p:spTree>
    <p:extLst>
      <p:ext uri="{BB962C8B-B14F-4D97-AF65-F5344CB8AC3E}">
        <p14:creationId xmlns:p14="http://schemas.microsoft.com/office/powerpoint/2010/main" val="3780925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F15EA-F334-D2B3-969E-E22ED86319FA}"/>
              </a:ext>
            </a:extLst>
          </p:cNvPr>
          <p:cNvSpPr txBox="1"/>
          <p:nvPr/>
        </p:nvSpPr>
        <p:spPr>
          <a:xfrm>
            <a:off x="3560245" y="293677"/>
            <a:ext cx="322876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2E109B17-F42D-5F88-9B8E-83D3A693DB57}"/>
              </a:ext>
            </a:extLst>
          </p:cNvPr>
          <p:cNvSpPr txBox="1"/>
          <p:nvPr/>
        </p:nvSpPr>
        <p:spPr>
          <a:xfrm>
            <a:off x="897622" y="1535183"/>
            <a:ext cx="8397379" cy="353943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Online Car Rental System</a:t>
            </a:r>
            <a:r>
              <a:rPr lang="en-US" sz="2800" dirty="0">
                <a:latin typeface="Times New Roman" panose="02020603050405020304" pitchFamily="18" charset="0"/>
                <a:cs typeface="Times New Roman" panose="02020603050405020304" pitchFamily="18" charset="0"/>
              </a:rPr>
              <a:t> is a web-based application developed to simplify the process of renting vehicles digitally. It provides an easy platform for users to register, explore available cars, and make bookings efficiently. The system includes secure authentication and driving license verification to ensure reliability. Additionally, an admin module helps manage cars, users, and bookings effectively.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8805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2C06F9-52F5-C690-0222-DC042585DE80}"/>
              </a:ext>
            </a:extLst>
          </p:cNvPr>
          <p:cNvSpPr txBox="1"/>
          <p:nvPr/>
        </p:nvSpPr>
        <p:spPr>
          <a:xfrm>
            <a:off x="2477729" y="353961"/>
            <a:ext cx="5474576"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Rectangle 1">
            <a:extLst>
              <a:ext uri="{FF2B5EF4-FFF2-40B4-BE49-F238E27FC236}">
                <a16:creationId xmlns:a16="http://schemas.microsoft.com/office/drawing/2014/main" id="{2912720C-4F43-4DC7-33FE-C9ADFE7A41E2}"/>
              </a:ext>
            </a:extLst>
          </p:cNvPr>
          <p:cNvSpPr>
            <a:spLocks noChangeArrowheads="1"/>
          </p:cNvSpPr>
          <p:nvPr/>
        </p:nvSpPr>
        <p:spPr bwMode="auto">
          <a:xfrm>
            <a:off x="931179" y="1811960"/>
            <a:ext cx="883117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800" dirty="0">
                <a:latin typeface="Times New Roman" panose="02020603050405020304" pitchFamily="18" charset="0"/>
                <a:cs typeface="Times New Roman" panose="02020603050405020304" pitchFamily="18" charset="0"/>
              </a:rPr>
              <a:t>The traditional car rental process is manual, time-consuming, and lacks transparency for users. Customers face difficulty in checking availability and making quick bookings. Existing systems often lack proper user verification and efficient booking management. Hence, a secure and automated Online Car Rental System is needed to improve efficiency and user experience.</a:t>
            </a:r>
            <a:endParaRPr kumimoji="0" lang="en-US" altLang="en-US" sz="2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96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C07009-B851-F710-F760-427F0151E26A}"/>
              </a:ext>
            </a:extLst>
          </p:cNvPr>
          <p:cNvSpPr txBox="1"/>
          <p:nvPr/>
        </p:nvSpPr>
        <p:spPr>
          <a:xfrm>
            <a:off x="2467897" y="196646"/>
            <a:ext cx="5588389" cy="1015663"/>
          </a:xfrm>
          <a:prstGeom prst="rect">
            <a:avLst/>
          </a:prstGeom>
          <a:noFill/>
        </p:spPr>
        <p:txBody>
          <a:bodyPr wrap="none" rtlCol="0">
            <a:spAutoFit/>
          </a:bodyPr>
          <a:lstStyle/>
          <a:p>
            <a:r>
              <a:rPr lang="en-IN" sz="6000" dirty="0">
                <a:solidFill>
                  <a:srgbClr val="FF0000"/>
                </a:solidFill>
                <a:latin typeface="Times New Roman" panose="02020603050405020304" pitchFamily="18" charset="0"/>
                <a:cs typeface="Times New Roman" panose="02020603050405020304" pitchFamily="18" charset="0"/>
              </a:rPr>
              <a:t>Literature Survey</a:t>
            </a:r>
          </a:p>
        </p:txBody>
      </p:sp>
      <p:sp>
        <p:nvSpPr>
          <p:cNvPr id="4" name="Rectangle 1">
            <a:extLst>
              <a:ext uri="{FF2B5EF4-FFF2-40B4-BE49-F238E27FC236}">
                <a16:creationId xmlns:a16="http://schemas.microsoft.com/office/drawing/2014/main" id="{7A38167D-6C90-0FA9-542B-0960C67E3952}"/>
              </a:ext>
            </a:extLst>
          </p:cNvPr>
          <p:cNvSpPr>
            <a:spLocks noChangeArrowheads="1"/>
          </p:cNvSpPr>
          <p:nvPr/>
        </p:nvSpPr>
        <p:spPr bwMode="auto">
          <a:xfrm>
            <a:off x="521111" y="1704751"/>
            <a:ext cx="904567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800" dirty="0">
                <a:latin typeface="Times New Roman" panose="02020603050405020304" pitchFamily="18" charset="0"/>
                <a:cs typeface="Times New Roman" panose="02020603050405020304" pitchFamily="18" charset="0"/>
              </a:rPr>
              <a:t>Existing studies on car rental systems highlight the shift from manual to web-based platforms for improved efficiency and accessibility. Research emphasizes the importance of secure user authentication and data management in such systems. Many works focus on features like online booking, availability checking, and admin control modules. These studies provide a foundation for developing a reliable and user-friendly Online Car Rental System.</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99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6F19A-47FE-E267-063B-D262AB02B1BC}"/>
              </a:ext>
            </a:extLst>
          </p:cNvPr>
          <p:cNvSpPr txBox="1"/>
          <p:nvPr/>
        </p:nvSpPr>
        <p:spPr>
          <a:xfrm>
            <a:off x="2914372" y="318018"/>
            <a:ext cx="5458688" cy="830997"/>
          </a:xfrm>
          <a:prstGeom prst="rect">
            <a:avLst/>
          </a:prstGeom>
          <a:noFill/>
        </p:spPr>
        <p:txBody>
          <a:bodyPr wrap="squar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Existing System</a:t>
            </a:r>
          </a:p>
        </p:txBody>
      </p:sp>
      <p:sp>
        <p:nvSpPr>
          <p:cNvPr id="5" name="TextBox 4">
            <a:extLst>
              <a:ext uri="{FF2B5EF4-FFF2-40B4-BE49-F238E27FC236}">
                <a16:creationId xmlns:a16="http://schemas.microsoft.com/office/drawing/2014/main" id="{146EF13D-C344-5427-F860-1310DFCA2B65}"/>
              </a:ext>
            </a:extLst>
          </p:cNvPr>
          <p:cNvSpPr txBox="1"/>
          <p:nvPr/>
        </p:nvSpPr>
        <p:spPr>
          <a:xfrm>
            <a:off x="989901" y="1795244"/>
            <a:ext cx="8780027"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existing car rental system is mostly manual or semi-digital, requiring physical visits or phone-based bookings. It lacks real-time vehicle availability and efficient booking management. Customer verification processes are often weak, leading to security issues. Additionally, managing records and preventing booking conflicts is difficult in such systems</a:t>
            </a:r>
            <a:r>
              <a:rPr lang="en-US" sz="2800" dirty="0"/>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4307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95EF18-F6EC-C888-8D77-8D2A8331A478}"/>
              </a:ext>
            </a:extLst>
          </p:cNvPr>
          <p:cNvSpPr txBox="1"/>
          <p:nvPr/>
        </p:nvSpPr>
        <p:spPr>
          <a:xfrm>
            <a:off x="2983042" y="194871"/>
            <a:ext cx="4442242"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Proposed System</a:t>
            </a:r>
          </a:p>
        </p:txBody>
      </p:sp>
      <p:sp>
        <p:nvSpPr>
          <p:cNvPr id="5" name="Rectangle 1">
            <a:extLst>
              <a:ext uri="{FF2B5EF4-FFF2-40B4-BE49-F238E27FC236}">
                <a16:creationId xmlns:a16="http://schemas.microsoft.com/office/drawing/2014/main" id="{5B702C76-A7D4-8F4D-7F7D-2A788D70B73F}"/>
              </a:ext>
            </a:extLst>
          </p:cNvPr>
          <p:cNvSpPr>
            <a:spLocks noChangeArrowheads="1"/>
          </p:cNvSpPr>
          <p:nvPr/>
        </p:nvSpPr>
        <p:spPr bwMode="auto">
          <a:xfrm>
            <a:off x="763397" y="1349986"/>
            <a:ext cx="864607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800" dirty="0">
                <a:latin typeface="Times New Roman" panose="02020603050405020304" pitchFamily="18" charset="0"/>
                <a:cs typeface="Times New Roman" panose="02020603050405020304" pitchFamily="18" charset="0"/>
              </a:rPr>
              <a:t>The proposed Online Car Rental System is a web-based solution that automates the entire vehicle rental process. It enables users to register with driving license verification, browse available cars, and book vehicles easily with real-time availability checks. The system ensures secure authentication and prevents overlapping bookings. An admin module efficiently manages users, cars, and bookings, improving overall system performance and user experience.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03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08F685-2C38-0CA8-77FA-C191183AD110}"/>
              </a:ext>
            </a:extLst>
          </p:cNvPr>
          <p:cNvSpPr txBox="1"/>
          <p:nvPr/>
        </p:nvSpPr>
        <p:spPr>
          <a:xfrm>
            <a:off x="2811676" y="-514019"/>
            <a:ext cx="5192127" cy="1446550"/>
          </a:xfrm>
          <a:prstGeom prst="rect">
            <a:avLst/>
          </a:prstGeom>
          <a:noFill/>
        </p:spPr>
        <p:txBody>
          <a:bodyPr wrap="none" rtlCol="0">
            <a:spAutoFit/>
          </a:bodyPr>
          <a:lstStyle/>
          <a:p>
            <a:endParaRPr lang="en-IN" sz="4000" b="1" dirty="0">
              <a:solidFill>
                <a:srgbClr val="FF0000"/>
              </a:solidFill>
              <a:latin typeface="Times New Roman" panose="02020603050405020304" pitchFamily="18" charset="0"/>
              <a:cs typeface="Times New Roman" panose="02020603050405020304" pitchFamily="18" charset="0"/>
            </a:endParaRPr>
          </a:p>
          <a:p>
            <a:r>
              <a:rPr lang="en-IN" sz="4800" dirty="0">
                <a:solidFill>
                  <a:srgbClr val="FF0000"/>
                </a:solidFill>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3236082F-FE9E-A8D1-32AE-189866F0F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5637" y="932530"/>
            <a:ext cx="6551802" cy="5610883"/>
          </a:xfrm>
          <a:prstGeom prst="rect">
            <a:avLst/>
          </a:prstGeom>
        </p:spPr>
      </p:pic>
    </p:spTree>
    <p:extLst>
      <p:ext uri="{BB962C8B-B14F-4D97-AF65-F5344CB8AC3E}">
        <p14:creationId xmlns:p14="http://schemas.microsoft.com/office/powerpoint/2010/main" val="4137767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68404F-1BA5-60C7-9F2C-DDF4EF811E7E}"/>
              </a:ext>
            </a:extLst>
          </p:cNvPr>
          <p:cNvSpPr txBox="1"/>
          <p:nvPr/>
        </p:nvSpPr>
        <p:spPr>
          <a:xfrm>
            <a:off x="2796467" y="190334"/>
            <a:ext cx="416812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Algorithm Used</a:t>
            </a:r>
          </a:p>
        </p:txBody>
      </p:sp>
      <p:sp>
        <p:nvSpPr>
          <p:cNvPr id="4" name="Rectangle 1">
            <a:extLst>
              <a:ext uri="{FF2B5EF4-FFF2-40B4-BE49-F238E27FC236}">
                <a16:creationId xmlns:a16="http://schemas.microsoft.com/office/drawing/2014/main" id="{0A6A2CA8-5E8D-AD9A-26EF-669C23EE9F65}"/>
              </a:ext>
            </a:extLst>
          </p:cNvPr>
          <p:cNvSpPr>
            <a:spLocks noChangeArrowheads="1"/>
          </p:cNvSpPr>
          <p:nvPr/>
        </p:nvSpPr>
        <p:spPr bwMode="auto">
          <a:xfrm>
            <a:off x="442452" y="2714099"/>
            <a:ext cx="8953081"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E9C3C828-99AF-7191-FFCA-B0057DB7AF24}"/>
              </a:ext>
            </a:extLst>
          </p:cNvPr>
          <p:cNvSpPr>
            <a:spLocks noChangeArrowheads="1"/>
          </p:cNvSpPr>
          <p:nvPr/>
        </p:nvSpPr>
        <p:spPr bwMode="auto">
          <a:xfrm>
            <a:off x="2348916" y="3616590"/>
            <a:ext cx="62833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4961E80-3B37-3D4C-43F4-58BCAF0C6004}"/>
              </a:ext>
            </a:extLst>
          </p:cNvPr>
          <p:cNvSpPr>
            <a:spLocks noChangeArrowheads="1"/>
          </p:cNvSpPr>
          <p:nvPr/>
        </p:nvSpPr>
        <p:spPr bwMode="auto">
          <a:xfrm>
            <a:off x="1082180" y="1082882"/>
            <a:ext cx="839738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 Availability Checking Algorithm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Prevents overlapping bookings by verifying date conflicts before confirming reservations.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Password Hashing Algorithm (</a:t>
            </a:r>
            <a:r>
              <a:rPr kumimoji="0" lang="en-US" altLang="en-US" sz="2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bcrypt</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secure storage of user passwords.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and Filtering Algorithm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users find cars based on price, fuel type, and seating capacity.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 Price Calculation Algorithm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Calculates total rental cost based on the number of days. </a:t>
            </a:r>
          </a:p>
        </p:txBody>
      </p:sp>
    </p:spTree>
    <p:extLst>
      <p:ext uri="{BB962C8B-B14F-4D97-AF65-F5344CB8AC3E}">
        <p14:creationId xmlns:p14="http://schemas.microsoft.com/office/powerpoint/2010/main" val="1996795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3CA763-66CB-8EE4-EECE-F9844B019B92}"/>
              </a:ext>
            </a:extLst>
          </p:cNvPr>
          <p:cNvSpPr txBox="1"/>
          <p:nvPr/>
        </p:nvSpPr>
        <p:spPr>
          <a:xfrm>
            <a:off x="3803472" y="149901"/>
            <a:ext cx="3034805" cy="707886"/>
          </a:xfrm>
          <a:prstGeom prst="rect">
            <a:avLst/>
          </a:prstGeom>
          <a:noFill/>
        </p:spPr>
        <p:txBody>
          <a:bodyPr wrap="non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Requirements</a:t>
            </a:r>
          </a:p>
        </p:txBody>
      </p:sp>
      <p:sp>
        <p:nvSpPr>
          <p:cNvPr id="4" name="TextBox 3">
            <a:extLst>
              <a:ext uri="{FF2B5EF4-FFF2-40B4-BE49-F238E27FC236}">
                <a16:creationId xmlns:a16="http://schemas.microsoft.com/office/drawing/2014/main" id="{7AD450D3-E9A4-8DEA-CF94-01EEFAC7F882}"/>
              </a:ext>
            </a:extLst>
          </p:cNvPr>
          <p:cNvSpPr txBox="1"/>
          <p:nvPr/>
        </p:nvSpPr>
        <p:spPr>
          <a:xfrm>
            <a:off x="374028" y="1113389"/>
            <a:ext cx="9615546" cy="800219"/>
          </a:xfrm>
          <a:prstGeom prst="rect">
            <a:avLst/>
          </a:prstGeom>
          <a:noFill/>
        </p:spPr>
        <p:txBody>
          <a:bodyPr wrap="square" rtlCol="0">
            <a:spAutoFit/>
          </a:bodyPr>
          <a:lstStyle/>
          <a:p>
            <a:r>
              <a:rPr lang="en-IN" sz="2800" b="1" dirty="0">
                <a:solidFill>
                  <a:srgbClr val="002060"/>
                </a:solidFill>
                <a:latin typeface="Times New Roman" panose="02020603050405020304" pitchFamily="18" charset="0"/>
                <a:cs typeface="Times New Roman" panose="02020603050405020304" pitchFamily="18" charset="0"/>
              </a:rPr>
              <a:t>Software Requirements:</a:t>
            </a:r>
          </a:p>
          <a:p>
            <a:endParaRPr lang="en-IN" dirty="0"/>
          </a:p>
        </p:txBody>
      </p:sp>
      <p:sp>
        <p:nvSpPr>
          <p:cNvPr id="3" name="Rectangle 1">
            <a:extLst>
              <a:ext uri="{FF2B5EF4-FFF2-40B4-BE49-F238E27FC236}">
                <a16:creationId xmlns:a16="http://schemas.microsoft.com/office/drawing/2014/main" id="{1D8C080C-AFFA-FAF1-CD91-38377CF1D5EE}"/>
              </a:ext>
            </a:extLst>
          </p:cNvPr>
          <p:cNvSpPr>
            <a:spLocks noChangeArrowheads="1"/>
          </p:cNvSpPr>
          <p:nvPr/>
        </p:nvSpPr>
        <p:spPr bwMode="auto">
          <a:xfrm>
            <a:off x="729841" y="1913608"/>
            <a:ext cx="860710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IN" sz="2800" dirty="0">
                <a:latin typeface="Times New Roman" panose="02020603050405020304" pitchFamily="18" charset="0"/>
                <a:cs typeface="Times New Roman" panose="02020603050405020304" pitchFamily="18" charset="0"/>
              </a:rPr>
              <a:t>• Operating System: Windows / Linux / macOS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Frontend: HTML, CSS, JavaScript, Bootstrap</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Backend: Node.js with Express.js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Database: MongoDB</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Tools: VS Code, Web Browser (Chrome/Edge), Git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716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DEFABE-57A6-15C7-8E39-3F8E531E0455}"/>
              </a:ext>
            </a:extLst>
          </p:cNvPr>
          <p:cNvSpPr txBox="1"/>
          <p:nvPr/>
        </p:nvSpPr>
        <p:spPr>
          <a:xfrm>
            <a:off x="461394" y="717840"/>
            <a:ext cx="9793650" cy="3108543"/>
          </a:xfrm>
          <a:prstGeom prst="rect">
            <a:avLst/>
          </a:prstGeom>
          <a:noFill/>
        </p:spPr>
        <p:txBody>
          <a:bodyPr wrap="square" rtlCol="0">
            <a:spAutoFit/>
          </a:bodyPr>
          <a:lstStyle/>
          <a:p>
            <a:r>
              <a:rPr lang="en-IN" sz="2800" b="1" dirty="0">
                <a:solidFill>
                  <a:srgbClr val="002060"/>
                </a:solidFill>
                <a:latin typeface="Times New Roman" panose="02020603050405020304" pitchFamily="18" charset="0"/>
                <a:cs typeface="Times New Roman" panose="02020603050405020304" pitchFamily="18" charset="0"/>
              </a:rPr>
              <a:t>Hardware Requirements:</a:t>
            </a:r>
          </a:p>
          <a:p>
            <a:endParaRPr lang="en-IN" sz="2800" b="1" dirty="0">
              <a:solidFill>
                <a:srgbClr val="00206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Processor: Intel i3 or above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RAM: Minimum 4 GB</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Storage: 500 GB HDD or 256 GB SSD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System Type: 64-bit Computer</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Internet Connection for development and testing</a:t>
            </a:r>
            <a:r>
              <a:rPr lang="en-IN"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065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1D0683-42BE-4239-2437-5DC1929EF591}"/>
              </a:ext>
            </a:extLst>
          </p:cNvPr>
          <p:cNvSpPr txBox="1"/>
          <p:nvPr/>
        </p:nvSpPr>
        <p:spPr>
          <a:xfrm>
            <a:off x="3028335" y="137652"/>
            <a:ext cx="4204997"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Modules Used</a:t>
            </a:r>
          </a:p>
        </p:txBody>
      </p:sp>
      <p:sp>
        <p:nvSpPr>
          <p:cNvPr id="4" name="Rectangle 1">
            <a:extLst>
              <a:ext uri="{FF2B5EF4-FFF2-40B4-BE49-F238E27FC236}">
                <a16:creationId xmlns:a16="http://schemas.microsoft.com/office/drawing/2014/main" id="{8B94541B-0E9D-C5D4-CBA5-4A641155A929}"/>
              </a:ext>
            </a:extLst>
          </p:cNvPr>
          <p:cNvSpPr>
            <a:spLocks noChangeArrowheads="1"/>
          </p:cNvSpPr>
          <p:nvPr/>
        </p:nvSpPr>
        <p:spPr bwMode="auto">
          <a:xfrm>
            <a:off x="922790" y="1271447"/>
            <a:ext cx="868260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Driving License Verification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Manages upload and admin verification of user licenses.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Handles user registration, login, and secure password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 Management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Handles car booking, cancellation, and booking status updates.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 Management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Allows admin to add, update, delete, and manage car details.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analytics and controls for managing users, cars, and bookings.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 Search &amp; Filter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users to search and filter cars based on preferences. </a:t>
            </a:r>
          </a:p>
        </p:txBody>
      </p:sp>
    </p:spTree>
    <p:extLst>
      <p:ext uri="{BB962C8B-B14F-4D97-AF65-F5344CB8AC3E}">
        <p14:creationId xmlns:p14="http://schemas.microsoft.com/office/powerpoint/2010/main" val="1461337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F16479-2FB4-1F2C-50C6-522369378710}"/>
              </a:ext>
            </a:extLst>
          </p:cNvPr>
          <p:cNvSpPr txBox="1"/>
          <p:nvPr/>
        </p:nvSpPr>
        <p:spPr>
          <a:xfrm>
            <a:off x="3402767" y="612404"/>
            <a:ext cx="3339376"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Conclusion</a:t>
            </a:r>
          </a:p>
        </p:txBody>
      </p:sp>
      <p:sp>
        <p:nvSpPr>
          <p:cNvPr id="5" name="Rectangle 2">
            <a:extLst>
              <a:ext uri="{FF2B5EF4-FFF2-40B4-BE49-F238E27FC236}">
                <a16:creationId xmlns:a16="http://schemas.microsoft.com/office/drawing/2014/main" id="{A747BA81-D0E3-8CC4-266D-3F48C19539D1}"/>
              </a:ext>
            </a:extLst>
          </p:cNvPr>
          <p:cNvSpPr>
            <a:spLocks noChangeArrowheads="1"/>
          </p:cNvSpPr>
          <p:nvPr/>
        </p:nvSpPr>
        <p:spPr bwMode="auto">
          <a:xfrm>
            <a:off x="269824" y="2362862"/>
            <a:ext cx="602770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CC00CC"/>
                </a:solidFill>
                <a:effectLst/>
                <a:latin typeface="Times New Roman" panose="02020603050405020304" pitchFamily="18" charset="0"/>
                <a:cs typeface="Times New Roman" panose="02020603050405020304" pitchFamily="18" charset="0"/>
              </a:rPr>
              <a:t>	</a:t>
            </a:r>
          </a:p>
        </p:txBody>
      </p:sp>
      <p:sp>
        <p:nvSpPr>
          <p:cNvPr id="3" name="Rectangle 1">
            <a:extLst>
              <a:ext uri="{FF2B5EF4-FFF2-40B4-BE49-F238E27FC236}">
                <a16:creationId xmlns:a16="http://schemas.microsoft.com/office/drawing/2014/main" id="{8E4A5D9C-68EE-3217-2693-1C6060A93FBA}"/>
              </a:ext>
            </a:extLst>
          </p:cNvPr>
          <p:cNvSpPr>
            <a:spLocks noChangeArrowheads="1"/>
          </p:cNvSpPr>
          <p:nvPr/>
        </p:nvSpPr>
        <p:spPr bwMode="auto">
          <a:xfrm>
            <a:off x="387384" y="1534444"/>
            <a:ext cx="937014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sz="2800" dirty="0">
                <a:latin typeface="Times New Roman" panose="02020603050405020304" pitchFamily="18" charset="0"/>
                <a:cs typeface="Times New Roman" panose="02020603050405020304" pitchFamily="18" charset="0"/>
              </a:rPr>
              <a:t>The Online Car Rental System provides an efficient and user-friendly solution for managing vehicle rentals digitally. It simplifies the booking process, ensures secure user authentication, and prevents booking conflicts through proper validation. The system also enables administrators to manage cars, users, and bookings effectively. Overall, it improves reliability, reduces manual effort, and enhances the user experience in car rental services.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666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EB03A-3589-33D9-7538-FE65B4C1CA3F}"/>
              </a:ext>
            </a:extLst>
          </p:cNvPr>
          <p:cNvSpPr txBox="1"/>
          <p:nvPr/>
        </p:nvSpPr>
        <p:spPr>
          <a:xfrm>
            <a:off x="715981" y="2106521"/>
            <a:ext cx="9298876" cy="2308324"/>
          </a:xfrm>
          <a:prstGeom prst="rect">
            <a:avLst/>
          </a:prstGeom>
          <a:noFill/>
        </p:spPr>
        <p:txBody>
          <a:bodyPr wrap="square" rtlCol="0">
            <a:spAutoFit/>
          </a:bodyPr>
          <a:lstStyle/>
          <a:p>
            <a:r>
              <a:rPr lang="en-IN" sz="7200" dirty="0">
                <a:solidFill>
                  <a:srgbClr val="FF0000"/>
                </a:solidFill>
                <a:latin typeface="Cooper Black" panose="0208090404030B020404" pitchFamily="18" charset="0"/>
                <a:cs typeface="Times New Roman" panose="02020603050405020304" pitchFamily="18" charset="0"/>
              </a:rPr>
              <a:t>              Any Recommendations</a:t>
            </a:r>
            <a:r>
              <a:rPr lang="en-IN" sz="7200" dirty="0">
                <a:solidFill>
                  <a:srgbClr val="FF0000"/>
                </a:solidFill>
                <a:latin typeface="Cooper Black" panose="0208090404030B020404" pitchFamily="18" charset="0"/>
              </a:rPr>
              <a:t>?</a:t>
            </a:r>
          </a:p>
        </p:txBody>
      </p:sp>
    </p:spTree>
    <p:extLst>
      <p:ext uri="{BB962C8B-B14F-4D97-AF65-F5344CB8AC3E}">
        <p14:creationId xmlns:p14="http://schemas.microsoft.com/office/powerpoint/2010/main" val="3738757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A37A66-FB32-68D4-7A1C-C86B022CA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67"/>
            <a:ext cx="12191999" cy="6858000"/>
          </a:xfrm>
          <a:prstGeom prst="rect">
            <a:avLst/>
          </a:prstGeom>
        </p:spPr>
      </p:pic>
    </p:spTree>
    <p:extLst>
      <p:ext uri="{BB962C8B-B14F-4D97-AF65-F5344CB8AC3E}">
        <p14:creationId xmlns:p14="http://schemas.microsoft.com/office/powerpoint/2010/main" val="48906942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1293</TotalTime>
  <Words>831</Words>
  <Application>Microsoft Office PowerPoint</Application>
  <PresentationFormat>Widescreen</PresentationFormat>
  <Paragraphs>69</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Cooper Black</vt:lpstr>
      <vt:lpstr>Old English Text MT</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PARISA VENKAT</dc:creator>
  <cp:lastModifiedBy>vanja venkatesh</cp:lastModifiedBy>
  <cp:revision>104</cp:revision>
  <dcterms:created xsi:type="dcterms:W3CDTF">2025-11-18T12:59:42Z</dcterms:created>
  <dcterms:modified xsi:type="dcterms:W3CDTF">2026-04-14T03:34:16Z</dcterms:modified>
</cp:coreProperties>
</file>